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553712"/>
            <a:ext cx="1554480" cy="68580"/>
          </a:xfrm>
          <a:prstGeom prst="rect">
            <a:avLst/>
          </a:prstGeom>
          <a:solidFill>
            <a:srgbClr val="B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6070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Leelawadee UI"/>
                <a:cs typeface="Leelawadee UI"/>
                <a:ea typeface="Leelawadee UI"/>
              </a:rPr>
              <a:t>Enhanced Task Manager CLI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CADCFC"/>
                </a:solidFill>
                <a:latin typeface="Leelawadee UI"/>
                <a:cs typeface="Leelawadee UI"/>
                <a:ea typeface="Leelawadee UI"/>
              </a:rPr>
              <a:t>โครงงานปลายภาค · Final Project — สัปดาห์ที่ 12</a:t>
            </a:r>
          </a:p>
          <a:p>
            <a:pPr>
              <a:spcAft>
                <a:spcPts val="2200"/>
              </a:spcAft>
            </a:pPr>
            <a:r>
              <a:rPr sz="1400" b="0" i="0">
                <a:solidFill>
                  <a:srgbClr val="CADCFC"/>
                </a:solidFill>
                <a:latin typeface="Leelawadee UI"/>
                <a:cs typeface="Leelawadee UI"/>
                <a:ea typeface="Leelawadee UI"/>
              </a:rPr>
              <a:t>รายวิชา: Object-Oriented Programming (การเขียนโปรแกรมเชิงวัตถุ)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Leelawadee UI"/>
                <a:cs typeface="Leelawadee UI"/>
                <a:ea typeface="Leelawadee UI"/>
              </a:rPr>
              <a:t>นายอเสข ปัญญาวงค์ · รหัสนักศึกษา 663380247-9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846320"/>
            <a:ext cx="3291840" cy="512064"/>
          </a:xfrm>
          <a:prstGeom prst="roundRect">
            <a:avLst>
              <a:gd name="adj" fmla="val 14000"/>
            </a:avLst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91440" bIns="91440"/>
          <a:lstStyle/>
          <a:p>
            <a:pPr algn="l"/>
            <a:r>
              <a:rPr sz="1300" b="0" i="0">
                <a:solidFill>
                  <a:srgbClr val="7EE787"/>
                </a:solidFill>
                <a:latin typeface="Leelawadee UI"/>
                <a:cs typeface="Leelawadee UI"/>
                <a:ea typeface="Leelawadee UI"/>
              </a:rPr>
              <a:t>&gt; python main.py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97433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CADCFC"/>
                </a:solidFill>
                <a:latin typeface="Leelawadee UI"/>
                <a:cs typeface="Leelawadee UI"/>
                <a:ea typeface="Leelawadee UI"/>
              </a:rPr>
              <a:t>Final Presentation · 5–7 นาที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8869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Leelawadee UI"/>
                <a:cs typeface="Leelawadee UI"/>
                <a:ea typeface="Leelawadee UI"/>
              </a:rPr>
              <a:t>แนะนำโปรเจกต์ (Introduction)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88728" y="365760"/>
            <a:ext cx="1797304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Leelawadee UI"/>
                <a:cs typeface="Leelawadee UI"/>
                <a:ea typeface="Leelawadee UI"/>
              </a:rPr>
              <a:t>1 ·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1556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5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โปรแกรมบริหารจัดการงานส่วนตัวบนหน้าจอคำสั่ง (Command-Line Interface) — รวมงานไว้ที่เดียว จัดหมวดด้วยป้ายกำกับ ค้นหาและกรองได้ทันที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3602736" cy="4160520"/>
          </a:xfrm>
          <a:prstGeom prst="roundRect">
            <a:avLst>
              <a:gd name="adj" fmla="val 5500"/>
            </a:avLst>
          </a:prstGeom>
          <a:solidFill>
            <a:srgbClr val="F7F9FC"/>
          </a:solidFill>
          <a:ln w="9525">
            <a:solidFill>
              <a:srgbClr val="C9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91440"/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F3864"/>
                </a:solidFill>
                <a:latin typeface="Leelawadee UI"/>
                <a:cs typeface="Leelawadee UI"/>
                <a:ea typeface="Leelawadee UI"/>
              </a:rPr>
              <a:t>งาน 3 ประเภท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· </a:t>
            </a:r>
            <a:r>
              <a:rPr sz="120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งานทั่วไป (Task) — รหัส, รายละเอียด, สถานะ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· </a:t>
            </a:r>
            <a:r>
              <a:rPr sz="120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งานมีกำหนดส่ง (DueDateTask) — วันครบกำหนด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· </a:t>
            </a:r>
            <a:r>
              <a:rPr sz="120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งานตามความสำคัญ (PriorityTask) — High / Medium / 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2252" y="1691640"/>
            <a:ext cx="3602736" cy="4160520"/>
          </a:xfrm>
          <a:prstGeom prst="roundRect">
            <a:avLst>
              <a:gd name="adj" fmla="val 5500"/>
            </a:avLst>
          </a:prstGeom>
          <a:solidFill>
            <a:srgbClr val="F7F9FC"/>
          </a:solidFill>
          <a:ln w="9525">
            <a:solidFill>
              <a:srgbClr val="C9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91440"/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F3864"/>
                </a:solidFill>
                <a:latin typeface="Leelawadee UI"/>
                <a:cs typeface="Leelawadee UI"/>
                <a:ea typeface="Leelawadee UI"/>
              </a:rPr>
              <a:t>ฟีเจอร์หลัก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· </a:t>
            </a:r>
            <a:r>
              <a:rPr sz="120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ค้นหา (Search) ทั้งชื่องานและป้ายกำกับ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· </a:t>
            </a:r>
            <a:r>
              <a:rPr sz="120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กรองหลายเงื่อนไขพร้อมกัน (Filter)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· </a:t>
            </a:r>
            <a:r>
              <a:rPr sz="120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เรียงลำดับได้ 5 แบบ (Sort)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· </a:t>
            </a:r>
            <a:r>
              <a:rPr sz="120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บันทึกอัตโนมัติลงไฟล์ JSON (Persistence)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01584" y="1691640"/>
            <a:ext cx="3602736" cy="4160520"/>
          </a:xfrm>
          <a:prstGeom prst="roundRect">
            <a:avLst>
              <a:gd name="adj" fmla="val 5500"/>
            </a:avLst>
          </a:prstGeom>
          <a:solidFill>
            <a:srgbClr val="F7F9FC"/>
          </a:solidFill>
          <a:ln w="9525">
            <a:solidFill>
              <a:srgbClr val="C9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91440"/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F3864"/>
                </a:solidFill>
                <a:latin typeface="Leelawadee UI"/>
                <a:cs typeface="Leelawadee UI"/>
                <a:ea typeface="Leelawadee UI"/>
              </a:rPr>
              <a:t>เป้าหมายการเรียนรู้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· </a:t>
            </a:r>
            <a:r>
              <a:rPr sz="120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การสืบทอดคลาส (Inheritance)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· </a:t>
            </a:r>
            <a:r>
              <a:rPr sz="120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พฤติกรรมต่างตามชนิด (Polymorphism)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· </a:t>
            </a:r>
            <a:r>
              <a:rPr sz="120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แยกส่วนตามหน้าที่ (Modularity)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· </a:t>
            </a:r>
            <a:r>
              <a:rPr sz="120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จัดการข้อผิดพลาด (Error Handling)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94A6"/>
                </a:solidFill>
                <a:latin typeface="Leelawadee UI"/>
                <a:cs typeface="Leelawadee UI"/>
                <a:ea typeface="Leelawadee U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8869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Leelawadee UI"/>
                <a:cs typeface="Leelawadee UI"/>
                <a:ea typeface="Leelawadee UI"/>
              </a:rPr>
              <a:t>ปัญหาที่โปรแกรมแก้ไข (Problem Solved)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715500" y="365760"/>
            <a:ext cx="1970532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Leelawadee UI"/>
                <a:cs typeface="Leelawadee UI"/>
                <a:ea typeface="Leelawadee UI"/>
              </a:rPr>
              <a:t>2 · Problem Solved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602736" cy="4434840"/>
          </a:xfrm>
          <a:prstGeom prst="roundRect">
            <a:avLst>
              <a:gd name="adj" fmla="val 5500"/>
            </a:avLst>
          </a:prstGeom>
          <a:solidFill>
            <a:srgbClr val="F7F9FC"/>
          </a:solidFill>
          <a:ln w="9525">
            <a:solidFill>
              <a:srgbClr val="C9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91440"/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262626"/>
                </a:solidFill>
                <a:latin typeface="Leelawadee UI"/>
                <a:cs typeface="Leelawadee UI"/>
                <a:ea typeface="Leelawadee UI"/>
              </a:rPr>
              <a:t>งานตกหล่น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B00000"/>
                </a:solidFill>
                <a:latin typeface="Leelawadee UI"/>
                <a:cs typeface="Leelawadee UI"/>
                <a:ea typeface="Leelawadee UI"/>
              </a:rPr>
              <a:t>ปัญหา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15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งานหลายวิชากระจายคนละที่ — จดสมุดบ้าง จดโทรศัพท์บ้าง → ลืมกำหนดส่ง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E7B34"/>
                </a:solidFill>
                <a:latin typeface="Leelawadee UI"/>
                <a:cs typeface="Leelawadee UI"/>
                <a:ea typeface="Leelawadee UI"/>
              </a:rPr>
              <a:t>ทางแก้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62626"/>
                </a:solidFill>
                <a:latin typeface="Leelawadee UI"/>
                <a:cs typeface="Leelawadee UI"/>
                <a:ea typeface="Leelawadee UI"/>
              </a:rPr>
              <a:t>รวมงานทุกอย่างไว้ที่เดียว พร้อมวันครบกำหนด และบันทึกอัตโนมัติ — ปิดโปรแกรมแล้วข้อมูลไม่หาย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02252" y="1417320"/>
            <a:ext cx="3602736" cy="4434840"/>
          </a:xfrm>
          <a:prstGeom prst="roundRect">
            <a:avLst>
              <a:gd name="adj" fmla="val 5500"/>
            </a:avLst>
          </a:prstGeom>
          <a:solidFill>
            <a:srgbClr val="F7F9FC"/>
          </a:solidFill>
          <a:ln w="9525">
            <a:solidFill>
              <a:srgbClr val="C9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91440"/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262626"/>
                </a:solidFill>
                <a:latin typeface="Leelawadee UI"/>
                <a:cs typeface="Leelawadee UI"/>
                <a:ea typeface="Leelawadee UI"/>
              </a:rPr>
              <a:t>แยกงานด่วนไม่ชัด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B00000"/>
                </a:solidFill>
                <a:latin typeface="Leelawadee UI"/>
                <a:cs typeface="Leelawadee UI"/>
                <a:ea typeface="Leelawadee UI"/>
              </a:rPr>
              <a:t>ปัญหา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15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ไม่รู้ว่าควรทำอะไรก่อน — งานด่วนปนอยู่กับงานทั่วไป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E7B34"/>
                </a:solidFill>
                <a:latin typeface="Leelawadee UI"/>
                <a:cs typeface="Leelawadee UI"/>
                <a:ea typeface="Leelawadee UI"/>
              </a:rPr>
              <a:t>ทางแก้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62626"/>
                </a:solidFill>
                <a:latin typeface="Leelawadee UI"/>
                <a:cs typeface="Leelawadee UI"/>
                <a:ea typeface="Leelawadee UI"/>
              </a:rPr>
              <a:t>กำหนดระดับความสำคัญ (High / Medium / Low) และเรียงลำดับงานตามความสำคัญหรือวันส่งได้ทันที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01584" y="1417320"/>
            <a:ext cx="3602736" cy="4434840"/>
          </a:xfrm>
          <a:prstGeom prst="roundRect">
            <a:avLst>
              <a:gd name="adj" fmla="val 5500"/>
            </a:avLst>
          </a:prstGeom>
          <a:solidFill>
            <a:srgbClr val="F7F9FC"/>
          </a:solidFill>
          <a:ln w="9525">
            <a:solidFill>
              <a:srgbClr val="C9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91440"/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262626"/>
                </a:solidFill>
                <a:latin typeface="Leelawadee UI"/>
                <a:cs typeface="Leelawadee UI"/>
                <a:ea typeface="Leelawadee UI"/>
              </a:rPr>
              <a:t>หางานเก่าไม่เจอ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B00000"/>
                </a:solidFill>
                <a:latin typeface="Leelawadee UI"/>
                <a:cs typeface="Leelawadee UI"/>
                <a:ea typeface="Leelawadee UI"/>
              </a:rPr>
              <a:t>ปัญหา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15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รายการงานยาวขึ้นเรื่อย ๆ — ค้นหาด้วยตาอย่างเดียวทำได้ช้า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E7B34"/>
                </a:solidFill>
                <a:latin typeface="Leelawadee UI"/>
                <a:cs typeface="Leelawadee UI"/>
                <a:ea typeface="Leelawadee UI"/>
              </a:rPr>
              <a:t>ทางแก้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62626"/>
                </a:solidFill>
                <a:latin typeface="Leelawadee UI"/>
                <a:cs typeface="Leelawadee UI"/>
                <a:ea typeface="Leelawadee UI"/>
              </a:rPr>
              <a:t>ติดป้ายกำกับ (Tags) ให้แต่ละงาน แล้วใช้ค้นหา (Search) / กรอง (Filter) หลายเงื่อนไขพร้อมกัน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98464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1F3864"/>
                </a:solidFill>
                <a:latin typeface="Leelawadee UI"/>
                <a:cs typeface="Leelawadee UI"/>
                <a:ea typeface="Leelawadee UI"/>
              </a:rPr>
              <a:t>เป้าหมาย: ลดงานตกหล่น และหางานเจอได้ในไม่กี่วินาที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94A6"/>
                </a:solidFill>
                <a:latin typeface="Leelawadee UI"/>
                <a:cs typeface="Leelawadee UI"/>
                <a:ea typeface="Leelawadee U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8869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Leelawadee UI"/>
                <a:cs typeface="Leelawadee UI"/>
                <a:ea typeface="Leelawadee UI"/>
              </a:rPr>
              <a:t>สาธิตการใช้งานจริง (Live Demo)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48570" y="365760"/>
            <a:ext cx="1537462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Leelawadee UI"/>
                <a:cs typeface="Leelawadee UI"/>
                <a:ea typeface="Leelawadee UI"/>
              </a:rPr>
              <a:t>3 ·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ลำดับการสาธิต 6 ขั้นตอน — ใช้ข้อมูลตัวอย่างใน data/tasks.json (ไม่ต้องใช้อินเทอร์เน็ต)</a:t>
            </a:r>
          </a:p>
        </p:txBody>
      </p:sp>
      <p:sp>
        <p:nvSpPr>
          <p:cNvPr id="5" name="Oval 4"/>
          <p:cNvSpPr/>
          <p:nvPr/>
        </p:nvSpPr>
        <p:spPr>
          <a:xfrm>
            <a:off x="658368" y="1627632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91440" bIns="91440"/>
          <a:lstStyle/>
          <a:p>
            <a:pPr algn="ctr"/>
            <a:r>
              <a:rPr sz="1500" b="1" i="0">
                <a:solidFill>
                  <a:srgbClr val="FFFFFF"/>
                </a:solidFill>
                <a:latin typeface="Leelawadee UI"/>
                <a:cs typeface="Leelawadee UI"/>
                <a:ea typeface="Leelawade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517904"/>
            <a:ext cx="104241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50" b="0" i="0">
                <a:solidFill>
                  <a:srgbClr val="262626"/>
                </a:solidFill>
                <a:latin typeface="Leelawadee UI"/>
                <a:cs typeface="Leelawadee UI"/>
                <a:ea typeface="Leelawadee UI"/>
              </a:rPr>
              <a:t>แสดงรายการงานทั้งหมด (List All) — ตัวอย่าง 6 งาน ครบ 3 ประเภท พร้อมป้ายกำกับ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2359152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91440" bIns="91440"/>
          <a:lstStyle/>
          <a:p>
            <a:pPr algn="ctr"/>
            <a:r>
              <a:rPr sz="1500" b="1" i="0">
                <a:solidFill>
                  <a:srgbClr val="FFFFFF"/>
                </a:solidFill>
                <a:latin typeface="Leelawadee UI"/>
                <a:cs typeface="Leelawadee UI"/>
                <a:ea typeface="Leelawade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2249424"/>
            <a:ext cx="104241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50" b="0" i="0">
                <a:solidFill>
                  <a:srgbClr val="262626"/>
                </a:solidFill>
                <a:latin typeface="Leelawadee UI"/>
                <a:cs typeface="Leelawadee UI"/>
                <a:ea typeface="Leelawadee UI"/>
              </a:rPr>
              <a:t>เพิ่มงานใหม่ (Add) — เลือกประเภทงาน กรอกชื่องาน วันส่ง/ความสำคัญ และป้ายกำกับ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090672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91440" bIns="91440"/>
          <a:lstStyle/>
          <a:p>
            <a:pPr algn="ctr"/>
            <a:r>
              <a:rPr sz="1500" b="1" i="0">
                <a:solidFill>
                  <a:srgbClr val="FFFFFF"/>
                </a:solidFill>
                <a:latin typeface="Leelawadee UI"/>
                <a:cs typeface="Leelawadee UI"/>
                <a:ea typeface="Leelawade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980944"/>
            <a:ext cx="104241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50" b="0" i="0">
                <a:solidFill>
                  <a:srgbClr val="262626"/>
                </a:solidFill>
                <a:latin typeface="Leelawadee UI"/>
                <a:cs typeface="Leelawadee UI"/>
                <a:ea typeface="Leelawadee UI"/>
              </a:rPr>
              <a:t>ค้นหา (Search) — พิมพ์คำว่า “urgent” → พบทั้งงานที่มีคำในชื่อและในแท็ก (ไม่สนตัวพิมพ์เล็ก-ใหญ่)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822192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91440" bIns="91440"/>
          <a:lstStyle/>
          <a:p>
            <a:pPr algn="ctr"/>
            <a:r>
              <a:rPr sz="1500" b="1" i="0">
                <a:solidFill>
                  <a:srgbClr val="FFFFFF"/>
                </a:solidFill>
                <a:latin typeface="Leelawadee UI"/>
                <a:cs typeface="Leelawadee UI"/>
                <a:ea typeface="Leelawade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712464"/>
            <a:ext cx="104241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50" b="0" i="0">
                <a:solidFill>
                  <a:srgbClr val="262626"/>
                </a:solidFill>
                <a:latin typeface="Leelawadee UI"/>
                <a:cs typeface="Leelawadee UI"/>
                <a:ea typeface="Leelawadee UI"/>
              </a:rPr>
              <a:t>กรอง (Filter) — รวมหลายเงื่อนไขพร้อมกัน เช่น สถานะ + ช่วงวันส่ง + ป้ายกำกับ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553712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91440" bIns="91440"/>
          <a:lstStyle/>
          <a:p>
            <a:pPr algn="ctr"/>
            <a:r>
              <a:rPr sz="1500" b="1" i="0">
                <a:solidFill>
                  <a:srgbClr val="FFFFFF"/>
                </a:solidFill>
                <a:latin typeface="Leelawadee UI"/>
                <a:cs typeface="Leelawadee UI"/>
                <a:ea typeface="Leelawadee U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4443984"/>
            <a:ext cx="104241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50" b="0" i="0">
                <a:solidFill>
                  <a:srgbClr val="262626"/>
                </a:solidFill>
                <a:latin typeface="Leelawadee UI"/>
                <a:cs typeface="Leelawadee UI"/>
                <a:ea typeface="Leelawadee UI"/>
              </a:rPr>
              <a:t>เรียงลำดับ (Sort) — ตามความสำคัญ High → Medium → Low หรือตามวันส่ง / รหัสงาน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285232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91440" bIns="91440"/>
          <a:lstStyle/>
          <a:p>
            <a:pPr algn="ctr"/>
            <a:r>
              <a:rPr sz="1500" b="1" i="0">
                <a:solidFill>
                  <a:srgbClr val="FFFFFF"/>
                </a:solidFill>
                <a:latin typeface="Leelawadee UI"/>
                <a:cs typeface="Leelawadee UI"/>
                <a:ea typeface="Leelawadee U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5175504"/>
            <a:ext cx="104241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50" b="0" i="0">
                <a:solidFill>
                  <a:srgbClr val="262626"/>
                </a:solidFill>
                <a:latin typeface="Leelawadee UI"/>
                <a:cs typeface="Leelawadee UI"/>
                <a:ea typeface="Leelawadee UI"/>
              </a:rPr>
              <a:t>ปิดและลบงาน (Complete · Delete) — อัปเดตสถานะสำเร็จ หรือลบงานตามรหัส (ID)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94A6"/>
                </a:solidFill>
                <a:latin typeface="Leelawadee UI"/>
                <a:cs typeface="Leelawadee UI"/>
                <a:ea typeface="Leelawadee U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8869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Leelawadee UI"/>
                <a:cs typeface="Leelawadee UI"/>
                <a:ea typeface="Leelawadee UI"/>
              </a:rPr>
              <a:t>ผลลัพธ์จริงจากการรันโปรแกรม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48570" y="365760"/>
            <a:ext cx="1537462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Leelawadee UI"/>
                <a:cs typeface="Leelawadee UI"/>
                <a:ea typeface="Leelawadee UI"/>
              </a:rPr>
              <a:t>3 · Live Demo</a:t>
            </a:r>
          </a:p>
        </p:txBody>
      </p:sp>
      <p:pic>
        <p:nvPicPr>
          <p:cNvPr id="4" name="Picture 3" descr="crop_screenshot_1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298448"/>
            <a:ext cx="5989884" cy="3840480"/>
          </a:xfrm>
          <a:prstGeom prst="rect">
            <a:avLst/>
          </a:prstGeom>
        </p:spPr>
      </p:pic>
      <p:pic>
        <p:nvPicPr>
          <p:cNvPr id="5" name="Picture 4" descr="crop_screenshot_2_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856" y="1298448"/>
            <a:ext cx="4804091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9496" y="5248656"/>
            <a:ext cx="5989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5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เมนู 7 · ค้นหา “urgent” — พบ 2 งาน (ตรงจากชื่อและแท็ก)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8856" y="5248656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5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เมนู 8 · กรอง: กำหนดส่งไม่เกิน 2026-10-01 + แท็ก study — พบ 2 งาน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58978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8A94A6"/>
                </a:solidFill>
                <a:latin typeface="Leelawadee UI"/>
                <a:cs typeface="Leelawadee UI"/>
                <a:ea typeface="Leelawadee UI"/>
              </a:rPr>
              <a:t>ภาพบันทึกจากการรันจริงของโปรแกรม · ภาพเพิ่มเติมอยู่ในโฟลเดอร์ screenshots/ ของโปรเจกต์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94A6"/>
                </a:solidFill>
                <a:latin typeface="Leelawadee UI"/>
                <a:cs typeface="Leelawadee UI"/>
                <a:ea typeface="Leelawadee U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8869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Leelawadee UI"/>
                <a:cs typeface="Leelawadee UI"/>
                <a:ea typeface="Leelawadee UI"/>
              </a:rPr>
              <a:t>โครงสร้างโปรแกรม (Software Architecture)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88728" y="365760"/>
            <a:ext cx="1797304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Leelawadee UI"/>
                <a:cs typeface="Leelawadee UI"/>
                <a:ea typeface="Leelawadee UI"/>
              </a:rPr>
              <a:t>4 ·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257800" cy="4892040"/>
          </a:xfrm>
          <a:prstGeom prst="roundRect">
            <a:avLst>
              <a:gd name="adj" fmla="val 5500"/>
            </a:avLst>
          </a:prstGeom>
          <a:solidFill>
            <a:srgbClr val="F7F9FC"/>
          </a:solidFill>
          <a:ln w="9525">
            <a:solidFill>
              <a:srgbClr val="C9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4846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F3864"/>
                </a:solidFill>
                <a:latin typeface="Leelawadee UI"/>
                <a:cs typeface="Leelawadee UI"/>
                <a:ea typeface="Leelawadee UI"/>
              </a:rPr>
              <a:t>โครงสร้างคลาส — 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91640" y="1755648"/>
            <a:ext cx="2880360" cy="54864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Leelawadee UI"/>
                <a:cs typeface="Leelawadee UI"/>
                <a:ea typeface="Leelawadee UI"/>
              </a:rPr>
              <a:t>Task — คลาสแม่ (Base Class)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2395728"/>
            <a:ext cx="342900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36576" bIns="36576"/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id · description · completed · tags (ป้ายกำกับ)</a:t>
            </a:r>
          </a:p>
          <a:p>
            <a:pPr algn="ctr"/>
            <a:r>
              <a:rPr sz="1050" b="0" i="0">
                <a:solidFill>
                  <a:srgbClr val="1F3864"/>
                </a:solidFill>
                <a:latin typeface="Leelawadee UI"/>
                <a:cs typeface="Leelawadee UI"/>
                <a:ea typeface="Leelawadee UI"/>
              </a:rPr>
              <a:t>add_tag / remove_tag / mark_complete</a:t>
            </a:r>
          </a:p>
        </p:txBody>
      </p:sp>
      <p:sp>
        <p:nvSpPr>
          <p:cNvPr id="8" name="Down Arrow 7"/>
          <p:cNvSpPr/>
          <p:nvPr/>
        </p:nvSpPr>
        <p:spPr>
          <a:xfrm>
            <a:off x="2990088" y="3273552"/>
            <a:ext cx="274320" cy="292608"/>
          </a:xfrm>
          <a:prstGeom prst="down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3639312"/>
            <a:ext cx="2331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36576" bIns="36576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Leelawadee UI"/>
                <a:cs typeface="Leelawadee UI"/>
                <a:ea typeface="Leelawadee UI"/>
              </a:rPr>
              <a:t>DueDateTask</a:t>
            </a:r>
          </a:p>
          <a:p>
            <a:pPr algn="ctr"/>
            <a:r>
              <a:rPr sz="105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(+ due_date วันครบกำหนด)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3639312"/>
            <a:ext cx="2331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36576" bIns="36576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Leelawadee UI"/>
                <a:cs typeface="Leelawadee UI"/>
                <a:ea typeface="Leelawadee UI"/>
              </a:rPr>
              <a:t>PriorityTask</a:t>
            </a:r>
          </a:p>
          <a:p>
            <a:pPr algn="ctr"/>
            <a:r>
              <a:rPr sz="105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(+ priority ความสำคัญ)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89120"/>
            <a:ext cx="4892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การสืบทอดคลาส (Inheritance): คลาสลูกได้คุณสมบัติจาก Task ทั้งหมด</a:t>
            </a:r>
          </a:p>
          <a:p>
            <a:pPr>
              <a:lnSpc>
                <a:spcPct val="105000"/>
              </a:lnSpc>
            </a:pPr>
            <a:r>
              <a:rPr sz="115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พฤติกรรมต่างตามชนิด (Polymorphism): แต่ละคลาสมี to_dict() / __str__() ของตัวเอง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234440"/>
            <a:ext cx="5696712" cy="4892040"/>
          </a:xfrm>
          <a:prstGeom prst="roundRect">
            <a:avLst>
              <a:gd name="adj" fmla="val 5500"/>
            </a:avLst>
          </a:prstGeom>
          <a:solidFill>
            <a:srgbClr val="F7F9FC"/>
          </a:solidFill>
          <a:ln w="9525">
            <a:solidFill>
              <a:srgbClr val="C9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316736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F3864"/>
                </a:solidFill>
                <a:latin typeface="Leelawadee UI"/>
                <a:cs typeface="Leelawadee UI"/>
                <a:ea typeface="Leelawadee UI"/>
              </a:rPr>
              <a:t>การแยกส่วนตามหน้าที่ (Separation of Concerns)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810512"/>
            <a:ext cx="480060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36576" bIns="36576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Leelawadee UI"/>
                <a:cs typeface="Leelawadee UI"/>
                <a:ea typeface="Leelawadee UI"/>
              </a:rPr>
              <a:t>CLIInterface</a:t>
            </a:r>
          </a:p>
          <a:p>
            <a:pPr algn="ctr"/>
            <a:r>
              <a:rPr sz="105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ชั้นติดต่อผู้ใช้ — เมนู, รับคำสั่ง, แสดงผล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705088" y="2505456"/>
            <a:ext cx="274320" cy="219456"/>
          </a:xfrm>
          <a:prstGeom prst="down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46520" y="2761487"/>
            <a:ext cx="480060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36576" bIns="36576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Leelawadee UI"/>
                <a:cs typeface="Leelawadee UI"/>
                <a:ea typeface="Leelawadee UI"/>
              </a:rPr>
              <a:t>TaskManager</a:t>
            </a:r>
          </a:p>
          <a:p>
            <a:pPr algn="ctr"/>
            <a:r>
              <a:rPr sz="105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ตรรกะหลัก — เพิ่ม/ลบ/ค้นหา/กรอง/เรียงลำดับ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8705088" y="3456432"/>
            <a:ext cx="274320" cy="219456"/>
          </a:xfrm>
          <a:prstGeom prst="down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6520" y="3712463"/>
            <a:ext cx="480060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36576" bIns="36576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Leelawadee UI"/>
                <a:cs typeface="Leelawadee UI"/>
                <a:ea typeface="Leelawadee UI"/>
              </a:rPr>
              <a:t>DataPersistence</a:t>
            </a:r>
          </a:p>
          <a:p>
            <a:pPr algn="ctr"/>
            <a:r>
              <a:rPr sz="105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บันทึกและโหลดข้อมูล JSON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705088" y="4407407"/>
            <a:ext cx="274320" cy="219456"/>
          </a:xfrm>
          <a:prstGeom prst="down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4663440"/>
            <a:ext cx="480060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36576" bIns="36576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Leelawadee UI"/>
                <a:cs typeface="Leelawadee UI"/>
                <a:ea typeface="Leelawadee UI"/>
              </a:rPr>
              <a:t>data/tasks.json</a:t>
            </a:r>
          </a:p>
          <a:p>
            <a:pPr algn="ctr"/>
            <a:r>
              <a:rPr sz="105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ไฟล์เก็บข้อมูลถาวร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5321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ทุกชั้นใช้โมเดลข้อมูลร่วมกันจาก task.py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94A6"/>
                </a:solidFill>
                <a:latin typeface="Leelawadee UI"/>
                <a:cs typeface="Leelawadee UI"/>
                <a:ea typeface="Leelawadee U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8869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Leelawadee UI"/>
                <a:cs typeface="Leelawadee UI"/>
                <a:ea typeface="Leelawadee UI"/>
              </a:rPr>
              <a:t>ความท้าทายทางเทคนิคและวิธีแก้ (Challenges)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61955" y="365760"/>
            <a:ext cx="1624076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Leelawadee UI"/>
                <a:cs typeface="Leelawadee UI"/>
                <a:ea typeface="Leelawadee UI"/>
              </a:rPr>
              <a:t>5 · Challenges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11183112" cy="1481328"/>
          </a:xfrm>
          <a:prstGeom prst="roundRect">
            <a:avLst>
              <a:gd name="adj" fmla="val 5500"/>
            </a:avLst>
          </a:prstGeom>
          <a:solidFill>
            <a:srgbClr val="F7F9FC"/>
          </a:solidFill>
          <a:ln w="9525">
            <a:solidFill>
              <a:srgbClr val="C9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82296" bIns="64008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3864"/>
                </a:solidFill>
                <a:latin typeface="Leelawadee UI"/>
                <a:cs typeface="Leelawadee UI"/>
                <a:ea typeface="Leelawadee UI"/>
              </a:rPr>
              <a:t>เรียงลำดับงานต่างชนิด (Polymorphic Sort)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B00000"/>
                </a:solidFill>
                <a:latin typeface="Leelawadee UI"/>
                <a:cs typeface="Leelawadee UI"/>
                <a:ea typeface="Leelawadee UI"/>
              </a:rPr>
              <a:t>ปัญหา: </a:t>
            </a:r>
            <a:r>
              <a:rPr sz="110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งานแต่ละชนิดมีข้อมูลไม่เท่ากัน — บางงานไม่มีวันส่ง บางงานไม่มีความสำคัญ → เรียงตรง ๆ จะพัง</a:t>
            </a:r>
          </a:p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7B34"/>
                </a:solidFill>
                <a:latin typeface="Leelawadee UI"/>
                <a:cs typeface="Leelawadee UI"/>
                <a:ea typeface="Leelawadee UI"/>
              </a:rPr>
              <a:t>ทางแก้: </a:t>
            </a:r>
            <a:r>
              <a:rPr sz="1100" b="0" i="0">
                <a:solidFill>
                  <a:srgbClr val="262626"/>
                </a:solidFill>
                <a:latin typeface="Leelawadee UI"/>
                <a:cs typeface="Leelawadee UI"/>
                <a:ea typeface="Leelawadee UI"/>
              </a:rPr>
              <a:t>ใช้คีย์เรียง (Sort Key) แบบคู่: งานไม่มีวันส่งใช้ค่า date.max / ไม่มีความสำคัญใช้ค่า 99 ดันลงท้ายสุด + รหัสงาน (ID) เป็นคีย์รองให้ลำดับนิ่งเสมอ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999232"/>
            <a:ext cx="11183112" cy="1481328"/>
          </a:xfrm>
          <a:prstGeom prst="roundRect">
            <a:avLst>
              <a:gd name="adj" fmla="val 5500"/>
            </a:avLst>
          </a:prstGeom>
          <a:solidFill>
            <a:srgbClr val="F7F9FC"/>
          </a:solidFill>
          <a:ln w="9525">
            <a:solidFill>
              <a:srgbClr val="C9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82296" bIns="64008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3864"/>
                </a:solidFill>
                <a:latin typeface="Leelawadee UI"/>
                <a:cs typeface="Leelawadee UI"/>
                <a:ea typeface="Leelawadee UI"/>
              </a:rPr>
              <a:t>กรองหลายเงื่อนไขพร้อมกัน (Multi-criteria Filter)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B00000"/>
                </a:solidFill>
                <a:latin typeface="Leelawadee UI"/>
                <a:cs typeface="Leelawadee UI"/>
                <a:ea typeface="Leelawadee UI"/>
              </a:rPr>
              <a:t>ปัญหา: </a:t>
            </a:r>
            <a:r>
              <a:rPr sz="110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ต้องรวมสถานะ + ช่วงวันส่ง + ความสำคัญ + แท็ก พร้อมกัน โดยไม่ให้โปรแกรมล่มเมื่อเจองานต่างชนิด</a:t>
            </a:r>
          </a:p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7B34"/>
                </a:solidFill>
                <a:latin typeface="Leelawadee UI"/>
                <a:cs typeface="Leelawadee UI"/>
                <a:ea typeface="Leelawadee UI"/>
              </a:rPr>
              <a:t>ทางแก้: </a:t>
            </a:r>
            <a:r>
              <a:rPr sz="1100" b="0" i="0">
                <a:solidFill>
                  <a:srgbClr val="262626"/>
                </a:solidFill>
                <a:latin typeface="Leelawadee UI"/>
                <a:cs typeface="Leelawadee UI"/>
                <a:ea typeface="Leelawadee UI"/>
              </a:rPr>
              <a:t>กรองแบบต่อเนื่องทีละเงื่อนไข (Sequential Pipeline) + ตรวจชนิดงานก่อนเทียบวัน (isinstance) — ทำงานกับงานที่มีข้อมูลครบเท่านั้น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626864"/>
            <a:ext cx="11183112" cy="1481328"/>
          </a:xfrm>
          <a:prstGeom prst="roundRect">
            <a:avLst>
              <a:gd name="adj" fmla="val 5500"/>
            </a:avLst>
          </a:prstGeom>
          <a:solidFill>
            <a:srgbClr val="F7F9FC"/>
          </a:solidFill>
          <a:ln w="9525">
            <a:solidFill>
              <a:srgbClr val="C9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82296" bIns="64008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3864"/>
                </a:solidFill>
                <a:latin typeface="Leelawadee UI"/>
                <a:cs typeface="Leelawadee UI"/>
                <a:ea typeface="Leelawadee UI"/>
              </a:rPr>
              <a:t>รองรับไฟล์ข้อมูลรุ่นเก่า (Backward Compatibility)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B00000"/>
                </a:solidFill>
                <a:latin typeface="Leelawadee UI"/>
                <a:cs typeface="Leelawadee UI"/>
                <a:ea typeface="Leelawadee UI"/>
              </a:rPr>
              <a:t>ปัญหา: </a:t>
            </a:r>
            <a:r>
              <a:rPr sz="110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ไฟล์งานเดิมที่บันทึกไว้ก่อนมีระบบแท็ก — ไม่มีฟิลด์ tags เลย</a:t>
            </a:r>
          </a:p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7B34"/>
                </a:solidFill>
                <a:latin typeface="Leelawadee UI"/>
                <a:cs typeface="Leelawadee UI"/>
                <a:ea typeface="Leelawadee UI"/>
              </a:rPr>
              <a:t>ทางแก้: </a:t>
            </a:r>
            <a:r>
              <a:rPr sz="1100" b="0" i="0">
                <a:solidFill>
                  <a:srgbClr val="262626"/>
                </a:solidFill>
                <a:latin typeface="Leelawadee UI"/>
                <a:cs typeface="Leelawadee UI"/>
                <a:ea typeface="Leelawadee UI"/>
              </a:rPr>
              <a:t>เติมค่าเริ่มต้นอัตโนมัติ setdefault('tags', []) ตอนโหลด + ระบุชนิดงานด้วยฟิลด์ _type — เปิดไฟล์เก่าได้ไม่พัง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94A6"/>
                </a:solidFill>
                <a:latin typeface="Leelawadee UI"/>
                <a:cs typeface="Leelawadee UI"/>
                <a:ea typeface="Leelawadee U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8869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Leelawadee UI"/>
                <a:cs typeface="Leelawadee UI"/>
                <a:ea typeface="Leelawadee UI"/>
              </a:rPr>
              <a:t>บทเรียนที่ได้จากโปรเจกต์ (Lessons Learned)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28885" y="365760"/>
            <a:ext cx="2057146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Leelawadee UI"/>
                <a:cs typeface="Leelawadee UI"/>
                <a:ea typeface="Leelawadee UI"/>
              </a:rPr>
              <a:t>6 · Lessons Learned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11183112" cy="1417320"/>
          </a:xfrm>
          <a:prstGeom prst="roundRect">
            <a:avLst>
              <a:gd name="adj" fmla="val 5500"/>
            </a:avLst>
          </a:prstGeom>
          <a:solidFill>
            <a:srgbClr val="F7F9FC"/>
          </a:solidFill>
          <a:ln w="9525">
            <a:solidFill>
              <a:srgbClr val="C9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1F3864"/>
                </a:solidFill>
                <a:latin typeface="Leelawadee UI"/>
                <a:cs typeface="Leelawadee UI"/>
                <a:ea typeface="Leelawadee UI"/>
              </a:rPr>
              <a:t>การแยกโมดูล (Modularity)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62626"/>
                </a:solidFill>
                <a:latin typeface="Leelawadee UI"/>
                <a:cs typeface="Leelawadee UI"/>
                <a:ea typeface="Leelawadee UI"/>
              </a:rPr>
              <a:t>แยกชั้นติดต่อผู้ใช้ / ตรรกะ / เก็บข้อมูล ออกจากกัน → ระบุตำแหน่งบั๊กได้ทันทีว่าอยู่ชั้นไหน และแก้ได้โดยไม่กระทบส่วนอื่น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035808"/>
            <a:ext cx="11183112" cy="1417320"/>
          </a:xfrm>
          <a:prstGeom prst="roundRect">
            <a:avLst>
              <a:gd name="adj" fmla="val 5500"/>
            </a:avLst>
          </a:prstGeom>
          <a:solidFill>
            <a:srgbClr val="F7F9FC"/>
          </a:solidFill>
          <a:ln w="9525">
            <a:solidFill>
              <a:srgbClr val="C9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1F3864"/>
                </a:solidFill>
                <a:latin typeface="Leelawadee UI"/>
                <a:cs typeface="Leelawadee UI"/>
                <a:ea typeface="Leelawadee UI"/>
              </a:rPr>
              <a:t>การทดสอบอัตโนมัติ (Unit Tests)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62626"/>
                </a:solidFill>
                <a:latin typeface="Leelawadee UI"/>
                <a:cs typeface="Leelawadee UI"/>
                <a:ea typeface="Leelawadee UI"/>
              </a:rPr>
              <a:t>ชุดทดสอบ 8 รายการ ครอบคลุมโมเดล ตรรกะ และการบันทึกข้อมูล → มั่นใจก่อนปรับโค้ดทุกครั้ง + จับการเชื่อมโยงข้ามไฟล์ได้เร็ว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608576"/>
            <a:ext cx="11183112" cy="1417320"/>
          </a:xfrm>
          <a:prstGeom prst="roundRect">
            <a:avLst>
              <a:gd name="adj" fmla="val 5500"/>
            </a:avLst>
          </a:prstGeom>
          <a:solidFill>
            <a:srgbClr val="F7F9FC"/>
          </a:solidFill>
          <a:ln w="9525">
            <a:solidFill>
              <a:srgbClr val="C9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1F3864"/>
                </a:solidFill>
                <a:latin typeface="Leelawadee UI"/>
                <a:cs typeface="Leelawadee UI"/>
                <a:ea typeface="Leelawadee UI"/>
              </a:rPr>
              <a:t>ออกแบบเพื่อรองรับการเปลี่ยนแปลง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62626"/>
                </a:solidFill>
                <a:latin typeface="Leelawadee UI"/>
                <a:cs typeface="Leelawadee UI"/>
                <a:ea typeface="Leelawadee UI"/>
              </a:rPr>
              <a:t>ฟิลด์ระบุชนิดงาน (_type) + ค่าเริ่มต้น (setdefault) ทำให้ระบบอ่านไฟล์ข้อมูลรุ่นก่อนหน้าได้อย่างราบรื่น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94A6"/>
                </a:solidFill>
                <a:latin typeface="Leelawadee UI"/>
                <a:cs typeface="Leelawadee UI"/>
                <a:ea typeface="Leelawadee U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8869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Leelawadee UI"/>
                <a:cs typeface="Leelawadee UI"/>
                <a:ea typeface="Leelawadee UI"/>
              </a:rPr>
              <a:t>แผนการพัฒนาต่อยอด (Future Work) &amp; Q&amp;A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55658" y="365760"/>
            <a:ext cx="2230374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Leelawadee UI"/>
                <a:cs typeface="Leelawadee UI"/>
                <a:ea typeface="Leelawadee UI"/>
              </a:rPr>
              <a:t>7 · Future Work &amp; Q&amp;A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3566160" cy="1691640"/>
          </a:xfrm>
          <a:prstGeom prst="roundRect">
            <a:avLst>
              <a:gd name="adj" fmla="val 5500"/>
            </a:avLst>
          </a:prstGeom>
          <a:solidFill>
            <a:srgbClr val="F7F9FC"/>
          </a:solidFill>
          <a:ln w="9525">
            <a:solidFill>
              <a:srgbClr val="C9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28016" bIns="91440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3864"/>
                </a:solidFill>
                <a:latin typeface="Leelawadee UI"/>
                <a:cs typeface="Leelawadee UI"/>
                <a:ea typeface="Leelawadee UI"/>
              </a:rPr>
              <a:t>หน้าจอกราฟิก (GUI)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เพิ่มหน้าจอแบบกราฟิกด้วย Tkinter / PyQt ให้ใช้งานง่ายขึ้น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06824" y="1600200"/>
            <a:ext cx="3566160" cy="1691640"/>
          </a:xfrm>
          <a:prstGeom prst="roundRect">
            <a:avLst>
              <a:gd name="adj" fmla="val 5500"/>
            </a:avLst>
          </a:prstGeom>
          <a:solidFill>
            <a:srgbClr val="F7F9FC"/>
          </a:solidFill>
          <a:ln w="9525">
            <a:solidFill>
              <a:srgbClr val="C9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28016" bIns="91440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3864"/>
                </a:solidFill>
                <a:latin typeface="Leelawadee UI"/>
                <a:cs typeface="Leelawadee UI"/>
                <a:ea typeface="Leelawadee UI"/>
              </a:rPr>
              <a:t>ฐานข้อมูลจริง (Database)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ย้ายจากไฟล์ JSON ไปใช้ SQLite / PostgreSQL ที่รองรับข้อมูลจำนวนมาก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0727" y="1600200"/>
            <a:ext cx="3566160" cy="1691640"/>
          </a:xfrm>
          <a:prstGeom prst="roundRect">
            <a:avLst>
              <a:gd name="adj" fmla="val 5500"/>
            </a:avLst>
          </a:prstGeom>
          <a:solidFill>
            <a:srgbClr val="F7F9FC"/>
          </a:solidFill>
          <a:ln w="9525">
            <a:solidFill>
              <a:srgbClr val="C9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28016" bIns="91440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3864"/>
                </a:solidFill>
                <a:latin typeface="Leelawadee UI"/>
                <a:cs typeface="Leelawadee UI"/>
                <a:ea typeface="Leelawadee UI"/>
              </a:rPr>
              <a:t>ระบบแจ้งเตือน (Notification)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เตือนงานใกล้ถึงกำหนดส่งผ่านระบบปฏิบัติการ หรือ LINE Notify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04872" y="3520440"/>
            <a:ext cx="3566160" cy="1691640"/>
          </a:xfrm>
          <a:prstGeom prst="roundRect">
            <a:avLst>
              <a:gd name="adj" fmla="val 5500"/>
            </a:avLst>
          </a:prstGeom>
          <a:solidFill>
            <a:srgbClr val="F7F9FC"/>
          </a:solidFill>
          <a:ln w="9525">
            <a:solidFill>
              <a:srgbClr val="C9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28016" bIns="91440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3864"/>
                </a:solidFill>
                <a:latin typeface="Leelawadee UI"/>
                <a:cs typeface="Leelawadee UI"/>
                <a:ea typeface="Leelawadee UI"/>
              </a:rPr>
              <a:t>ผู้ใช้หลายคน (User Accounts)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ระบบเข้าสู่ระบบ แยกงานของแต่ละคนออกจากกัน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3520440"/>
            <a:ext cx="3566160" cy="1691640"/>
          </a:xfrm>
          <a:prstGeom prst="roundRect">
            <a:avLst>
              <a:gd name="adj" fmla="val 5500"/>
            </a:avLst>
          </a:prstGeom>
          <a:solidFill>
            <a:srgbClr val="F7F9FC"/>
          </a:solidFill>
          <a:ln w="9525">
            <a:solidFill>
              <a:srgbClr val="C9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28016" bIns="91440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3864"/>
                </a:solidFill>
                <a:latin typeface="Leelawadee UI"/>
                <a:cs typeface="Leelawadee UI"/>
                <a:ea typeface="Leelawadee UI"/>
              </a:rPr>
              <a:t>REST API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95959"/>
                </a:solidFill>
                <a:latin typeface="Leelawadee UI"/>
                <a:cs typeface="Leelawadee UI"/>
                <a:ea typeface="Leelawadee UI"/>
              </a:rPr>
              <a:t>เชื่อมต่อผ่าน FastAPI เพื่อต่อยอดเป็นเว็บแอปหรือแอปมือถือ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2356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8A94A6"/>
                </a:solidFill>
                <a:latin typeface="Leelawadee UI"/>
                <a:cs typeface="Leelawadee UI"/>
                <a:ea typeface="Leelawadee UI"/>
              </a:rPr>
              <a:t>ต่อยอดตามแนวทางใน PLAN.md — เอกสารการออกแบบและแผนงานของโปรเจกต์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A94A6"/>
                </a:solidFill>
                <a:latin typeface="Leelawadee UI"/>
                <a:cs typeface="Leelawadee UI"/>
                <a:ea typeface="Leelawadee U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036015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400"/>
              </a:spcAft>
            </a:pPr>
            <a:r>
              <a:rPr sz="4400" b="1" i="0">
                <a:solidFill>
                  <a:srgbClr val="FFFFFF"/>
                </a:solidFill>
                <a:latin typeface="Leelawadee UI"/>
                <a:cs typeface="Leelawadee UI"/>
                <a:ea typeface="Leelawadee UI"/>
              </a:rPr>
              <a:t>ขอบคุณครับ</a:t>
            </a:r>
          </a:p>
          <a:p>
            <a:pPr algn="ctr">
              <a:spcAft>
                <a:spcPts val="2000"/>
              </a:spcAft>
            </a:pPr>
            <a:r>
              <a:rPr sz="1700" b="0" i="0">
                <a:solidFill>
                  <a:srgbClr val="CADCFC"/>
                </a:solidFill>
                <a:latin typeface="Leelawadee UI"/>
                <a:cs typeface="Leelawadee UI"/>
                <a:ea typeface="Leelawadee UI"/>
              </a:rPr>
              <a:t>Questions &amp; Answers — ยินดีตอบทุกคำถาม</a:t>
            </a:r>
          </a:p>
          <a:p>
            <a:pPr algn="ctr"/>
            <a:r>
              <a:rPr sz="1200" b="0" i="0">
                <a:solidFill>
                  <a:srgbClr val="A9BFE8"/>
                </a:solidFill>
                <a:latin typeface="Leelawadee UI"/>
                <a:cs typeface="Leelawadee UI"/>
                <a:ea typeface="Leelawadee UI"/>
              </a:rPr>
              <a:t>Enhanced Task Manager CLI · นายอเสข ปัญญาวงค์ · 663380247-9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